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Open with outcomes: 3.25× revenue, 4.4× profit, 2.6× jobs vs traditional. Ask for 90‑day pilot approval today.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Set context: ACE is running the traditional capital track. Our DAO track runs in parallel to generate operating revenue, jobs, and community ownership with tight controls (Safe multisig, bicameral votes).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Point to the chart next slide; numbers are conservative and drawn from the Fordham Hill analysis.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Explain that higher profits come from local value capture (pre‑orders, resident‑run services), not speculative tokens. Source pages 2–3 in the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This community is primed for cooperative economics; we start small and show results fast.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Highlight that the immigrant/co‑op history supports tokenized pre‑orders and worker co‑ops. Mention board’s ask for revenue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Three guilds map to three revenue lines.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Infra monetizes services for residents &amp; local businesses; Creator monetizes IP; Wealth &amp; Learning incubates micro‑businesses with pre‑orders.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Stress: $CRED is spend‑limited, not a public stablecoin; credits keep spending local.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Bicameral votes ensure capital holders and contributors both consent; Safe multisig executes; Snapshot for votes.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can show revenue within first 45 days from OCR/RAG, media, and AI office hours.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KPIs include jobs served, uptime, revenue per node, and customer satisfaction. At day 90 we vote to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These three services are low‑risk, high‑demand in the neighborhood.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Explain proof‑of‑service metrics and weekly payouts; this is where early revenue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run in parallel; no conflicts. Two gates: week 6 and week 12 for Board review.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Show we complement ACE: while cap‑ex plans mature, our op‑ex engine starts generating value and insights for ACE vendors (document digitization, RAG for specs).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avoid regulated money movement by using spend‑limited credits and standard invoices.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Explain that $CRED is a closed‑loop credit redeemable with approved vendors; we publish monthly financials; consider DAO LLC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End with a clear ask: approve pilot and appointments today.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Confirm who signs the Safe; confirm data room and comms cadence with ACE PM; outline KPI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We built from your own Fordham Hill financials and research corpus.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Cite the study pages (2–3) and show RPE chart to demonstrate methodology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60‑sec talk track:</a:t>
            </a:r>
            <a:br/>
            <a:r>
              <a:t>If QR doesn’t resolve yet, the URL is on the slide; link will be live before distribution.</a:t>
            </a:r>
          </a:p>
          <a:p>
            <a:br/>
            <a:pPr>
              <a:defRPr sz="1200"/>
            </a:pPr>
            <a:r>
              <a:t>5‑min talk track:</a:t>
            </a:r>
            <a:br/>
            <a:r>
              <a:t>We can swap in a new QR in seconds once you provide the final Drive folder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Fordham Hill — Community‑Owned Alternative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Cataclysm Studios DAO | Board Deck (v0.2) | 2025-09-07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5‑Year Comparison (Tokenomics vs Traditional)</a:t>
            </a:r>
          </a:p>
          <a:p>
            <a:pPr/>
            <a:r>
              <a:t>• Revenue: $17.8M vs $5.48M</a:t>
            </a:r>
          </a:p>
          <a:p>
            <a:pPr/>
            <a:r>
              <a:t>• Profit:  $7.26M vs $1.64M</a:t>
            </a:r>
          </a:p>
          <a:p>
            <a:pPr/>
            <a:r>
              <a:t>• Jobs:    414 vs 157</a:t>
            </a:r>
          </a:p>
          <a:p>
            <a:pPr/>
            <a:r>
              <a:t>• Households Served: 798 vs 285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5‑Year Revenue &amp; Profit — Traditional vs Tokenomics (Source: Fordham Hill study, p.2–3)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Works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55k residents; median income ≈ $35,355; ~45% foreign‑born</a:t>
            </a:r>
          </a:p>
          <a:p>
            <a:pPr/>
            <a:r>
              <a:t>• Existing co‑op culture + dense housing = fast network effects</a:t>
            </a:r>
          </a:p>
          <a:p>
            <a:pPr/>
            <a:r>
              <a:t>• Board priority: new revenue streams; we deliver in 90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Parent DAO + 3 Guilds</a:t>
            </a:r>
          </a:p>
          <a:p>
            <a:pPr/>
            <a:r>
              <a:t>1) Infra &amp; Cloud (resident‑run nodes)</a:t>
            </a:r>
          </a:p>
          <a:p>
            <a:pPr/>
            <a:r>
              <a:t>2) Creator (music/AI video/art)</a:t>
            </a:r>
          </a:p>
          <a:p>
            <a:pPr/>
            <a:r>
              <a:t>3) Wealth &amp; Learning (micro‑business + upskilling)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$CAT — Governance (ERC‑20)</a:t>
            </a:r>
          </a:p>
          <a:p>
            <a:pPr/>
            <a:r>
              <a:t>$WORK — Reputation (non‑transferable SBT)</a:t>
            </a:r>
          </a:p>
          <a:p>
            <a:pPr/>
            <a:r>
              <a:t>$CRED — Community Credits (spend‑limited vouchers)</a:t>
            </a:r>
          </a:p>
          <a:p>
            <a:pPr/>
            <a:r>
              <a:t>Two‑House Voting: Token House + Citizen House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90‑Day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Days 0–14: Safe + Snapshot + Constitution; recruit 5–10 node operators</a:t>
            </a:r>
          </a:p>
          <a:p>
            <a:pPr/>
            <a:r>
              <a:t>Days 15–45: 3 paid services live; Creator Pod #1</a:t>
            </a:r>
          </a:p>
          <a:p>
            <a:pPr/>
            <a:r>
              <a:t>Days 46–90: KPI report; Seed Grants #1; +10 nodes; ratify $CAT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 &amp; Cloud Guild —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OCR + RAG search for local businesses</a:t>
            </a:r>
          </a:p>
          <a:p>
            <a:pPr/>
            <a:r>
              <a:t>• Media transcode + publish</a:t>
            </a:r>
          </a:p>
          <a:p>
            <a:pPr/>
            <a:r>
              <a:t>• AI office hours for residents/vendors</a:t>
            </a:r>
          </a:p>
          <a:p>
            <a:pPr/>
            <a:r>
              <a:t>Rewards: $WORK + $CRED; bonus $CAT on KPI over‑performance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ACE Alignment — Side‑by‑Side Timeline (Weeks 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ACE: Site walk, scope refinement, RFP drafting, vendor pre‑quals</a:t>
            </a:r>
          </a:p>
          <a:p>
            <a:pPr/>
            <a:r>
              <a:t>DAO: Home‑node installs (Wk 1–2), services live (Wk 3–6), KPI report (Wk 12)</a:t>
            </a:r>
          </a:p>
          <a:p>
            <a:pPr/>
            <a:r>
              <a:t>Dependencies: Shared comms calendar, vendor data room, legal review window</a:t>
            </a:r>
          </a:p>
          <a:p>
            <a:pPr/>
            <a:r>
              <a:t>Gate: Board reviews KPI &amp; budget at Wk 6 and Wk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Permits: none for software/services; standard business/vendor onboarding</a:t>
            </a:r>
          </a:p>
          <a:p>
            <a:pPr/>
            <a:r>
              <a:t>Finance: Safe multisig; $CRED spend‑limited; monthly reporting</a:t>
            </a:r>
          </a:p>
          <a:p>
            <a:pPr/>
            <a:r>
              <a:t>Privacy: vendor NDAs; role‑based access; PII handling SOPs</a:t>
            </a:r>
          </a:p>
          <a:p>
            <a:pPr/>
            <a:r>
              <a:t>Legal: DAO LLC wrapper considered after pilot; community T&amp;Cs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Calendar &amp; Board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Today: Approve pilot, nominate 3 stewards, green‑light 5–10 home nodes</a:t>
            </a:r>
          </a:p>
          <a:p>
            <a:pPr/>
            <a:r>
              <a:t>Wk 2: Approve vendor list for $CRED redemptions (3 vendors)</a:t>
            </a:r>
          </a:p>
          <a:p>
            <a:pPr/>
            <a:r>
              <a:t>Wk 6: KPI gate #1 (continue/adjust)</a:t>
            </a:r>
          </a:p>
          <a:p>
            <a:pPr/>
            <a:r>
              <a:t>Wk 12: KPI gate #2 + scaling vote (add nodes, extend services)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Token vs Traditional analysis (5‑yr)</a:t>
            </a:r>
          </a:p>
          <a:p>
            <a:pPr/>
            <a:r>
              <a:t>• RPE/Cluster synthesis across research corpus</a:t>
            </a:r>
          </a:p>
          <a:p>
            <a:pPr/>
            <a:r>
              <a:t>• Agent Zero pattern: Base L2 governance + off‑chain apps, on‑chain proofs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 for Decks, Proposal, and Constitution</a:t>
            </a:r>
          </a:p>
        </p:txBody>
      </p:sp>
      <p:pic>
        <p:nvPicPr>
          <p:cNvPr id="3" name="Picture 2" descr="drive_qr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4592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Drive folder: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https://drive.google.com/drive/folders/REPLACE_WITH_YOUR_LINK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